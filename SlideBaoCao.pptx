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4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33"/>
                </a:solidFill>
                <a:latin typeface="+mn-lt"/>
              </a:defRPr>
            </a:pPr>
            <a:r>
              <a:rPr lang="vi-VN" sz="1400" b="0" i="0" u="none" strike="noStrike">
                <a:solidFill>
                  <a:srgbClr val="1B2A33"/>
                </a:solidFill>
                <a:latin typeface="+mn-lt"/>
              </a:rPr>
              <a:t>Số phiếu mượn theo tình trạng</a:t>
            </a:r>
          </a:p>
        </c:rich>
      </c:tx>
      <c:overlay val="0"/>
    </c:title>
    <c:autoTitleDeleted val="0"/>
    <c:plotArea>
      <c:layout/>
      <c:doughnutChart>
        <c:varyColors val="1"/>
        <c:ser>
          <c:idx val="0"/>
          <c:order val="0"/>
          <c:tx>
            <c:strRef>
              <c:f>Sheet1!$B$1</c:f>
              <c:strCache>
                <c:ptCount val="1"/>
                <c:pt idx="0">
                  <c:v>Tình trạng</c:v>
                </c:pt>
              </c:strCache>
            </c:strRef>
          </c:tx>
          <c:spPr>
            <a:solidFill>
              <a:schemeClr val="accent1"/>
            </a:solidFill>
            <a:ln w="9525" cap="flat">
              <a:solidFill>
                <a:srgbClr val="F9F9F9"/>
              </a:solidFill>
              <a:prstDash val="solid"/>
              <a:round/>
            </a:ln>
            <a:effectLst/>
          </c:spPr>
          <c:dPt>
            <c:idx val="0"/>
            <c:bubble3D val="0"/>
            <c:spPr>
              <a:solidFill>
                <a:srgbClr val="0B7A75"/>
              </a:solidFill>
              <a:ln w="25400" cap="flat">
                <a:solidFill>
                  <a:srgbClr val="EEF4F5"/>
                </a:solidFill>
                <a:prstDash val="solid"/>
                <a:round/>
              </a:ln>
              <a:effectLst/>
            </c:spPr>
            <c:extLst>
              <c:ext xmlns:c16="http://schemas.microsoft.com/office/drawing/2014/chart" uri="{C3380CC4-5D6E-409C-BE32-E72D297353CC}">
                <c16:uniqueId val="{00000001-4109-4A23-98CC-429D1790900D}"/>
              </c:ext>
            </c:extLst>
          </c:dPt>
          <c:dPt>
            <c:idx val="1"/>
            <c:bubble3D val="0"/>
            <c:spPr>
              <a:solidFill>
                <a:srgbClr val="E4572E"/>
              </a:solidFill>
              <a:ln w="25400" cap="flat">
                <a:solidFill>
                  <a:srgbClr val="EEF4F5"/>
                </a:solidFill>
                <a:prstDash val="solid"/>
                <a:round/>
              </a:ln>
              <a:effectLst/>
            </c:spPr>
            <c:extLst>
              <c:ext xmlns:c16="http://schemas.microsoft.com/office/drawing/2014/chart" uri="{C3380CC4-5D6E-409C-BE32-E72D297353CC}">
                <c16:uniqueId val="{00000003-4109-4A23-98CC-429D1790900D}"/>
              </c:ext>
            </c:extLst>
          </c:dPt>
          <c:dPt>
            <c:idx val="2"/>
            <c:bubble3D val="0"/>
            <c:spPr>
              <a:solidFill>
                <a:srgbClr val="B8C4CC"/>
              </a:solidFill>
              <a:ln w="25400" cap="flat">
                <a:solidFill>
                  <a:srgbClr val="EEF4F5"/>
                </a:solidFill>
                <a:prstDash val="solid"/>
                <a:round/>
              </a:ln>
              <a:effectLst/>
            </c:spPr>
            <c:extLst>
              <c:ext xmlns:c16="http://schemas.microsoft.com/office/drawing/2014/chart" uri="{C3380CC4-5D6E-409C-BE32-E72D297353CC}">
                <c16:uniqueId val="{00000005-4109-4A23-98CC-429D1790900D}"/>
              </c:ext>
            </c:extLst>
          </c:dPt>
          <c:dLbls>
            <c:dLbl>
              <c:idx val="0"/>
              <c:numFmt formatCode="General" sourceLinked="0"/>
              <c:spPr/>
              <c:txPr>
                <a:bodyPr/>
                <a:lstStyle/>
                <a:p>
                  <a:pPr>
                    <a:defRPr sz="14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109-4A23-98CC-429D1790900D}"/>
                </c:ext>
              </c:extLst>
            </c:dLbl>
            <c:dLbl>
              <c:idx val="1"/>
              <c:numFmt formatCode="General" sourceLinked="0"/>
              <c:spPr/>
              <c:txPr>
                <a:bodyPr/>
                <a:lstStyle/>
                <a:p>
                  <a:pPr>
                    <a:defRPr sz="14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109-4A23-98CC-429D1790900D}"/>
                </c:ext>
              </c:extLst>
            </c:dLbl>
            <c:dLbl>
              <c:idx val="2"/>
              <c:numFmt formatCode="General" sourceLinked="0"/>
              <c:spPr/>
              <c:txPr>
                <a:bodyPr/>
                <a:lstStyle/>
                <a:p>
                  <a:pPr>
                    <a:defRPr sz="14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109-4A23-98CC-429D1790900D}"/>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Đang mượn</c:v>
                </c:pt>
                <c:pt idx="1">
                  <c:v>Quá hạn</c:v>
                </c:pt>
                <c:pt idx="2">
                  <c:v>Đã trả</c:v>
                </c:pt>
              </c:strCache>
            </c:strRef>
          </c:cat>
          <c:val>
            <c:numRef>
              <c:f>Sheet1!$B$2:$B$4</c:f>
              <c:numCache>
                <c:formatCode>General</c:formatCode>
                <c:ptCount val="3"/>
                <c:pt idx="0">
                  <c:v>2</c:v>
                </c:pt>
                <c:pt idx="1">
                  <c:v>1</c:v>
                </c:pt>
                <c:pt idx="2">
                  <c:v>1</c:v>
                </c:pt>
              </c:numCache>
            </c:numRef>
          </c:val>
          <c:extLst>
            <c:ext xmlns:c16="http://schemas.microsoft.com/office/drawing/2014/chart" uri="{C3380CC4-5D6E-409C-BE32-E72D297353CC}">
              <c16:uniqueId val="{00000006-4109-4A23-98CC-429D1790900D}"/>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26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nói (~2 phút): Tháng 10 có 4 phiếu mượn: 2 phiếu đang mượn (SV001 - Lập Trình C Căn Bản, SV004), 1 phiếu đã trả (SV003 - Kỹ Năng Mềm) và 1 phiếu quá hạn (SV002 - Giải Tích 1), tức 25%. Cần nhắc SV002 trả sách. Ngoài ra mã S099 của SV004 không có trong danh mục nên VLOOKUP báo không tìm thấy, cần kiểm tra lại mã.
Vì sao chọn Donut: chỉ có 3 nhóm tình trạng cộng lại thành 1 tổng (4 phiếu), nên cần thấy phần của từng nhóm trên tổng. Bar hợp khi so sánh nhiều nhóm, Line dùng cho xu hướng theo thời gian (ở đây không có), Flowchart dùng cho quy trình.
Rule 10/20/30: tổng 10 slide, trình bày 20 phút, chữ tối thiểu 30pt. Slide này chiếm 1/10 tổng số slide (10%), thời lượng dự kiến khoảng 2 phút (20 phút chia 10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200" b="1" dirty="0">
                <a:solidFill>
                  <a:schemeClr val="tx2"/>
                </a:solidFill>
              </a:rPr>
              <a:t>Tháng 10 có 1/4 phiếu mượn quá hạn, cần nhắc SV002 trả sách Giải Tích 1</a:t>
            </a:r>
            <a:endParaRPr lang="en-US" sz="3200" dirty="0"/>
          </a:p>
        </p:txBody>
      </p:sp>
      <p:sp>
        <p:nvSpPr>
          <p:cNvPr id="3" name="BigNumber"/>
          <p:cNvSpPr txBox="1"/>
          <p:nvPr/>
        </p:nvSpPr>
        <p:spPr>
          <a:xfrm>
            <a:off x="457200" y="1463040"/>
            <a:ext cx="3931920" cy="1234440"/>
          </a:xfrm>
          <a:prstGeom prst="rect">
            <a:avLst/>
          </a:prstGeom>
          <a:noFill/>
          <a:ln/>
        </p:spPr>
        <p:txBody>
          <a:bodyPr wrap="square" lIns="0" tIns="0" rIns="0" bIns="0" rtlCol="0" anchor="ctr"/>
          <a:lstStyle/>
          <a:p>
            <a:pPr marL="0" indent="0">
              <a:buNone/>
            </a:pPr>
            <a:r>
              <a:rPr lang="en-US" sz="8800" b="1" dirty="0">
                <a:solidFill>
                  <a:schemeClr val="accent2"/>
                </a:solidFill>
                <a:latin typeface="+mj-lt" pitchFamily="34" charset="0"/>
                <a:ea typeface="+mj-lt" pitchFamily="34" charset="-122"/>
                <a:cs typeface="+mj-lt" pitchFamily="34" charset="-120"/>
              </a:rPr>
              <a:t>25%</a:t>
            </a:r>
            <a:endParaRPr lang="en-US" sz="8800" dirty="0"/>
          </a:p>
        </p:txBody>
      </p:sp>
      <p:sp>
        <p:nvSpPr>
          <p:cNvPr id="4" name="BigNumberLabel"/>
          <p:cNvSpPr txBox="1"/>
          <p:nvPr/>
        </p:nvSpPr>
        <p:spPr>
          <a:xfrm>
            <a:off x="457200" y="2697480"/>
            <a:ext cx="3931920" cy="411480"/>
          </a:xfrm>
          <a:prstGeom prst="rect">
            <a:avLst/>
          </a:prstGeom>
          <a:noFill/>
          <a:ln/>
        </p:spPr>
        <p:txBody>
          <a:bodyPr wrap="square" lIns="0" tIns="0" rIns="0" bIns="0" rtlCol="0" anchor="ctr"/>
          <a:lstStyle/>
          <a:p>
            <a:pPr marL="0" indent="0">
              <a:buNone/>
            </a:pPr>
            <a:r>
              <a:rPr lang="en-US" sz="1800" b="1" dirty="0">
                <a:solidFill>
                  <a:schemeClr val="tx1"/>
                </a:solidFill>
              </a:rPr>
              <a:t>phiếu mượn đang quá hạn (1/4 phiếu)</a:t>
            </a:r>
            <a:endParaRPr lang="en-US" sz="1800" dirty="0"/>
          </a:p>
        </p:txBody>
      </p:sp>
      <p:sp>
        <p:nvSpPr>
          <p:cNvPr id="5" name="Actions"/>
          <p:cNvSpPr txBox="1"/>
          <p:nvPr/>
        </p:nvSpPr>
        <p:spPr>
          <a:xfrm>
            <a:off x="457200" y="3246120"/>
            <a:ext cx="3931920" cy="1325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SV002 – Trần Thị Bình chưa trả Giải Tích 1 (mượn 03/10/2026)</a:t>
            </a:r>
            <a:endParaRPr lang="en-US" sz="1600" dirty="0"/>
          </a:p>
          <a:p>
            <a:pPr marL="342900" indent="-342900">
              <a:spcAft>
                <a:spcPts val="800"/>
              </a:spcAft>
              <a:buSzPct val="100000"/>
              <a:buChar char="•"/>
            </a:pPr>
            <a:r>
              <a:rPr lang="en-US" sz="1600" dirty="0">
                <a:solidFill>
                  <a:schemeClr val="tx1"/>
                </a:solidFill>
              </a:rPr>
              <a:t>Mã S099 (SV004) không có trong danh mục sách, cần kiểm tra lại</a:t>
            </a:r>
            <a:endParaRPr lang="en-US" sz="1600" dirty="0"/>
          </a:p>
        </p:txBody>
      </p:sp>
      <p:sp>
        <p:nvSpPr>
          <p:cNvPr id="6" name="ChartPanel"/>
          <p:cNvSpPr/>
          <p:nvPr/>
        </p:nvSpPr>
        <p:spPr>
          <a:xfrm>
            <a:off x="4663440" y="1463040"/>
            <a:ext cx="4023360" cy="3108960"/>
          </a:xfrm>
          <a:prstGeom prst="roundRect">
            <a:avLst>
              <a:gd name="adj" fmla="val 4412"/>
            </a:avLst>
          </a:prstGeom>
          <a:solidFill>
            <a:schemeClr val="bg2"/>
          </a:solidFill>
          <a:ln/>
        </p:spPr>
      </p:sp>
      <p:graphicFrame>
        <p:nvGraphicFramePr>
          <p:cNvPr id="7" name="Chart 0"/>
          <p:cNvGraphicFramePr/>
          <p:nvPr/>
        </p:nvGraphicFramePr>
        <p:xfrm>
          <a:off x="4754880" y="1554480"/>
          <a:ext cx="3840480" cy="29260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theme/theme1.xml><?xml version="1.0" encoding="utf-8"?>
<a:theme xmlns:a="http://schemas.openxmlformats.org/drawingml/2006/main" name="ThuVien">
  <a:themeElements>
    <a:clrScheme name="ThuVien">
      <a:dk1>
        <a:srgbClr val="1B2A33"/>
      </a:dk1>
      <a:lt1>
        <a:srgbClr val="FFFFFF"/>
      </a:lt1>
      <a:dk2>
        <a:srgbClr val="0B3C49"/>
      </a:dk2>
      <a:lt2>
        <a:srgbClr val="EEF4F5"/>
      </a:lt2>
      <a:accent1>
        <a:srgbClr val="0B7A75"/>
      </a:accent1>
      <a:accent2>
        <a:srgbClr val="E4572E"/>
      </a:accent2>
      <a:accent3>
        <a:srgbClr val="B8C4CC"/>
      </a:accent3>
      <a:accent4>
        <a:srgbClr val="F2A541"/>
      </a:accent4>
      <a:accent5>
        <a:srgbClr val="3D5A80"/>
      </a:accent5>
      <a:accent6>
        <a:srgbClr val="98C1D9"/>
      </a:accent6>
      <a:hlink>
        <a:srgbClr val="0B7A75"/>
      </a:hlink>
      <a:folHlink>
        <a:srgbClr val="5C6B73"/>
      </a:folHlink>
    </a:clrScheme>
    <a:fontScheme name="ThuVi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256</Words>
  <Application>Microsoft Office PowerPoint</Application>
  <PresentationFormat>On-screen Show (16:9)</PresentationFormat>
  <Paragraphs>11</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Cambria</vt:lpstr>
      <vt:lpstr>ThuVien</vt:lpstr>
      <vt:lpstr>Tháng 10 có 1/4 phiếu mượn quá hạn, cần nhắc SV002 trả sách Giải Tích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tiến độ - Phiếu mượn sách tháng 10</dc:title>
  <dc:subject>PptxGenJS Presentation</dc:subject>
  <dc:creator>PptxGenJS</dc:creator>
  <cp:lastModifiedBy>Vinh Quốc</cp:lastModifiedBy>
  <cp:revision>2</cp:revision>
  <dcterms:created xsi:type="dcterms:W3CDTF">2026-10-24T20:16:47Z</dcterms:created>
  <dcterms:modified xsi:type="dcterms:W3CDTF">2026-10-24T20:20:09Z</dcterms:modified>
</cp:coreProperties>
</file>